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8"/>
  </p:notesMasterIdLst>
  <p:sldIdLst>
    <p:sldId id="256" r:id="rId3"/>
    <p:sldId id="305" r:id="rId4"/>
    <p:sldId id="368" r:id="rId5"/>
    <p:sldId id="369" r:id="rId6"/>
    <p:sldId id="314" r:id="rId7"/>
    <p:sldId id="329" r:id="rId8"/>
    <p:sldId id="362" r:id="rId9"/>
    <p:sldId id="363" r:id="rId10"/>
    <p:sldId id="371" r:id="rId11"/>
    <p:sldId id="370" r:id="rId12"/>
    <p:sldId id="372" r:id="rId13"/>
    <p:sldId id="373" r:id="rId14"/>
    <p:sldId id="374" r:id="rId15"/>
    <p:sldId id="375" r:id="rId16"/>
    <p:sldId id="303" r:id="rId17"/>
  </p:sldIdLst>
  <p:sldSz cx="9144000" cy="5143500" type="screen16x9"/>
  <p:notesSz cx="6858000" cy="9144000"/>
  <p:embeddedFontLst>
    <p:embeddedFont>
      <p:font typeface="Eras Demi ITC" panose="020B0805030504020804" pitchFamily="34" charset="0"/>
      <p:regular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  <p:embeddedFont>
      <p:font typeface="Proxima Nova Semibold" panose="020B0604020202020204" charset="0"/>
      <p:regular r:id="rId24"/>
      <p:bold r:id="rId25"/>
      <p:boldItalic r:id="rId26"/>
    </p:embeddedFont>
    <p:embeddedFont>
      <p:font typeface="Reem Kufi" pitchFamily="2"/>
      <p:regular r:id="rId27"/>
    </p:embeddedFont>
    <p:embeddedFont>
      <p:font typeface="Source Sans Pro" panose="020B0503030403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49F6BAF-08D7-40BF-BB8A-D8244ED61B3F}">
          <p14:sldIdLst>
            <p14:sldId id="256"/>
          </p14:sldIdLst>
        </p14:section>
        <p14:section name="Konsep" id="{CE182075-C708-4927-83F5-0910C2CF76DA}">
          <p14:sldIdLst>
            <p14:sldId id="305"/>
            <p14:sldId id="368"/>
            <p14:sldId id="369"/>
            <p14:sldId id="314"/>
          </p14:sldIdLst>
        </p14:section>
        <p14:section name="Implementasi" id="{1D707478-6EB9-4C87-BA80-441D708843B9}">
          <p14:sldIdLst>
            <p14:sldId id="329"/>
            <p14:sldId id="362"/>
            <p14:sldId id="363"/>
            <p14:sldId id="371"/>
            <p14:sldId id="370"/>
            <p14:sldId id="372"/>
            <p14:sldId id="373"/>
            <p14:sldId id="374"/>
            <p14:sldId id="375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64B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759021-DC3D-4529-B45E-FDD56340C465}">
  <a:tblStyle styleId="{39759021-DC3D-4529-B45E-FDD56340C4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382" y="10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C0AECE-1339-4677-9517-18B417283556}" type="doc">
      <dgm:prSet loTypeId="urn:microsoft.com/office/officeart/2008/layout/AlternatingPictureBlocks" loCatId="list" qsTypeId="urn:microsoft.com/office/officeart/2005/8/quickstyle/simple1" qsCatId="simple" csTypeId="urn:microsoft.com/office/officeart/2005/8/colors/accent1_2" csCatId="accent1" phldr="1"/>
      <dgm:spPr/>
    </dgm:pt>
    <dgm:pt modelId="{2C8D3BE8-0CED-412C-8C54-8AF6BD77EA6F}">
      <dgm:prSet phldrT="[Text]"/>
      <dgm:spPr/>
      <dgm:t>
        <a:bodyPr/>
        <a:lstStyle/>
        <a:p>
          <a:r>
            <a:rPr lang="en-ID" dirty="0"/>
            <a:t>Objek ini bisa berjalan</a:t>
          </a:r>
          <a:br>
            <a:rPr lang="en-ID" dirty="0"/>
          </a:br>
          <a:r>
            <a:rPr lang="en-ID" dirty="0"/>
            <a:t>Objek ini bisa </a:t>
          </a:r>
          <a:r>
            <a:rPr lang="en-ID" dirty="0" err="1"/>
            <a:t>berlari</a:t>
          </a:r>
          <a:br>
            <a:rPr lang="en-ID" dirty="0"/>
          </a:br>
          <a:r>
            <a:rPr lang="en-ID" dirty="0"/>
            <a:t>Objek ini bisa </a:t>
          </a:r>
          <a:r>
            <a:rPr lang="en-ID" dirty="0" err="1"/>
            <a:t>berenang</a:t>
          </a:r>
          <a:endParaRPr lang="id-ID" dirty="0"/>
        </a:p>
      </dgm:t>
    </dgm:pt>
    <dgm:pt modelId="{14A88DC2-CCB4-4BA7-A6C4-87F873F64DF2}" type="parTrans" cxnId="{0478F0C5-B49E-4C67-BE00-979CD553727F}">
      <dgm:prSet/>
      <dgm:spPr/>
      <dgm:t>
        <a:bodyPr/>
        <a:lstStyle/>
        <a:p>
          <a:endParaRPr lang="id-ID"/>
        </a:p>
      </dgm:t>
    </dgm:pt>
    <dgm:pt modelId="{DF6BF282-B235-4528-9C11-040369DF7208}" type="sibTrans" cxnId="{0478F0C5-B49E-4C67-BE00-979CD553727F}">
      <dgm:prSet/>
      <dgm:spPr/>
      <dgm:t>
        <a:bodyPr/>
        <a:lstStyle/>
        <a:p>
          <a:endParaRPr lang="id-ID"/>
        </a:p>
      </dgm:t>
    </dgm:pt>
    <dgm:pt modelId="{657D54E1-2852-4BC2-AEAE-5D096228186A}">
      <dgm:prSet phldrT="[Text]"/>
      <dgm:spPr/>
      <dgm:t>
        <a:bodyPr/>
        <a:lstStyle/>
        <a:p>
          <a:r>
            <a:rPr lang="en-ID" dirty="0"/>
            <a:t>Objek ini bisa berjalan</a:t>
          </a:r>
          <a:br>
            <a:rPr lang="en-ID" dirty="0"/>
          </a:br>
          <a:r>
            <a:rPr lang="en-ID" dirty="0"/>
            <a:t>Objek ini bisa </a:t>
          </a:r>
          <a:r>
            <a:rPr lang="en-ID" dirty="0" err="1"/>
            <a:t>berlari</a:t>
          </a:r>
          <a:endParaRPr lang="id-ID" dirty="0"/>
        </a:p>
      </dgm:t>
    </dgm:pt>
    <dgm:pt modelId="{77B77374-4DBD-448E-8852-83F2A8E90FC2}" type="parTrans" cxnId="{082448D5-ECCB-4929-8C32-DE118C3C96D1}">
      <dgm:prSet/>
      <dgm:spPr/>
      <dgm:t>
        <a:bodyPr/>
        <a:lstStyle/>
        <a:p>
          <a:endParaRPr lang="id-ID"/>
        </a:p>
      </dgm:t>
    </dgm:pt>
    <dgm:pt modelId="{EEDE1B26-3DFB-4C3E-BB7C-E4AA2E4EFFB7}" type="sibTrans" cxnId="{082448D5-ECCB-4929-8C32-DE118C3C96D1}">
      <dgm:prSet/>
      <dgm:spPr/>
      <dgm:t>
        <a:bodyPr/>
        <a:lstStyle/>
        <a:p>
          <a:endParaRPr lang="id-ID"/>
        </a:p>
      </dgm:t>
    </dgm:pt>
    <dgm:pt modelId="{D8F33796-2132-4433-88C3-C44E238943F5}">
      <dgm:prSet phldrT="[Text]"/>
      <dgm:spPr/>
      <dgm:t>
        <a:bodyPr/>
        <a:lstStyle/>
        <a:p>
          <a:r>
            <a:rPr lang="en-ID" dirty="0"/>
            <a:t>Objek ini bisa berjalan</a:t>
          </a:r>
          <a:br>
            <a:rPr lang="en-ID" dirty="0"/>
          </a:br>
          <a:r>
            <a:rPr lang="en-ID" dirty="0"/>
            <a:t>Objek ini bisa terbang</a:t>
          </a:r>
          <a:endParaRPr lang="id-ID" dirty="0"/>
        </a:p>
      </dgm:t>
    </dgm:pt>
    <dgm:pt modelId="{8605C816-990F-4FA6-A81E-EE2D9AC235FC}" type="parTrans" cxnId="{486B9E9D-63D3-4AC3-9D3C-82C609460E52}">
      <dgm:prSet/>
      <dgm:spPr/>
      <dgm:t>
        <a:bodyPr/>
        <a:lstStyle/>
        <a:p>
          <a:endParaRPr lang="id-ID"/>
        </a:p>
      </dgm:t>
    </dgm:pt>
    <dgm:pt modelId="{D788A4E4-D817-4B84-AF5C-CB939F9A8EC8}" type="sibTrans" cxnId="{486B9E9D-63D3-4AC3-9D3C-82C609460E52}">
      <dgm:prSet/>
      <dgm:spPr/>
      <dgm:t>
        <a:bodyPr/>
        <a:lstStyle/>
        <a:p>
          <a:endParaRPr lang="id-ID"/>
        </a:p>
      </dgm:t>
    </dgm:pt>
    <dgm:pt modelId="{0D894A8A-0135-4A50-97C5-4C5D8C2FC836}">
      <dgm:prSet phldrT="[Text]"/>
      <dgm:spPr/>
      <dgm:t>
        <a:bodyPr/>
        <a:lstStyle/>
        <a:p>
          <a:r>
            <a:rPr lang="en-ID" dirty="0"/>
            <a:t>Objek ini bisa </a:t>
          </a:r>
          <a:r>
            <a:rPr lang="en-ID" dirty="0" err="1"/>
            <a:t>berenang</a:t>
          </a:r>
          <a:endParaRPr lang="id-ID" dirty="0"/>
        </a:p>
      </dgm:t>
    </dgm:pt>
    <dgm:pt modelId="{E3C76958-ED52-47FF-9692-782E3F889456}" type="parTrans" cxnId="{AB0B3D67-24FD-40C6-85EB-CAF57D8CBFED}">
      <dgm:prSet/>
      <dgm:spPr/>
      <dgm:t>
        <a:bodyPr/>
        <a:lstStyle/>
        <a:p>
          <a:endParaRPr lang="id-ID"/>
        </a:p>
      </dgm:t>
    </dgm:pt>
    <dgm:pt modelId="{DA10240B-DD83-4B09-928F-EB6FCFAE1772}" type="sibTrans" cxnId="{AB0B3D67-24FD-40C6-85EB-CAF57D8CBFED}">
      <dgm:prSet/>
      <dgm:spPr/>
      <dgm:t>
        <a:bodyPr/>
        <a:lstStyle/>
        <a:p>
          <a:endParaRPr lang="id-ID"/>
        </a:p>
      </dgm:t>
    </dgm:pt>
    <dgm:pt modelId="{F932EFF2-2715-488F-9831-4337E57FC965}" type="pres">
      <dgm:prSet presAssocID="{7CC0AECE-1339-4677-9517-18B417283556}" presName="linearFlow" presStyleCnt="0">
        <dgm:presLayoutVars>
          <dgm:dir/>
          <dgm:resizeHandles val="exact"/>
        </dgm:presLayoutVars>
      </dgm:prSet>
      <dgm:spPr/>
    </dgm:pt>
    <dgm:pt modelId="{464C9C82-604C-4D7D-9EA9-029A292FFE22}" type="pres">
      <dgm:prSet presAssocID="{2C8D3BE8-0CED-412C-8C54-8AF6BD77EA6F}" presName="comp" presStyleCnt="0"/>
      <dgm:spPr/>
    </dgm:pt>
    <dgm:pt modelId="{E24251E0-63E2-4EE7-A8D0-9676810DB8D8}" type="pres">
      <dgm:prSet presAssocID="{2C8D3BE8-0CED-412C-8C54-8AF6BD77EA6F}" presName="rect2" presStyleLbl="node1" presStyleIdx="0" presStyleCnt="4" custScaleX="130515" custLinFactNeighborX="11550">
        <dgm:presLayoutVars>
          <dgm:bulletEnabled val="1"/>
        </dgm:presLayoutVars>
      </dgm:prSet>
      <dgm:spPr/>
    </dgm:pt>
    <dgm:pt modelId="{AE5025D7-0712-4366-863C-E8EE94BA0215}" type="pres">
      <dgm:prSet presAssocID="{2C8D3BE8-0CED-412C-8C54-8AF6BD77EA6F}" presName="rect1" presStyleLbl="lnNode1" presStyleIdx="0" presStyleCnt="4"/>
      <dgm:spPr>
        <a:blipFill>
          <a:blip xmlns:r="http://schemas.openxmlformats.org/officeDocument/2006/relationships" r:embed="rId1"/>
          <a:srcRect/>
          <a:stretch>
            <a:fillRect t="-61000" b="-61000"/>
          </a:stretch>
        </a:blipFill>
      </dgm:spPr>
    </dgm:pt>
    <dgm:pt modelId="{E40931F0-C43D-4461-B0CB-4510410FE615}" type="pres">
      <dgm:prSet presAssocID="{DF6BF282-B235-4528-9C11-040369DF7208}" presName="sibTrans" presStyleCnt="0"/>
      <dgm:spPr/>
    </dgm:pt>
    <dgm:pt modelId="{F8A9102A-FACC-4D09-9753-6394C27F56EA}" type="pres">
      <dgm:prSet presAssocID="{657D54E1-2852-4BC2-AEAE-5D096228186A}" presName="comp" presStyleCnt="0"/>
      <dgm:spPr/>
    </dgm:pt>
    <dgm:pt modelId="{6B908272-668E-4B8A-8933-F96D3F92F289}" type="pres">
      <dgm:prSet presAssocID="{657D54E1-2852-4BC2-AEAE-5D096228186A}" presName="rect2" presStyleLbl="node1" presStyleIdx="1" presStyleCnt="4" custScaleX="130515" custLinFactNeighborX="-11550">
        <dgm:presLayoutVars>
          <dgm:bulletEnabled val="1"/>
        </dgm:presLayoutVars>
      </dgm:prSet>
      <dgm:spPr/>
    </dgm:pt>
    <dgm:pt modelId="{6B92D29E-6AF5-4FEE-B156-64AA32F86D2B}" type="pres">
      <dgm:prSet presAssocID="{657D54E1-2852-4BC2-AEAE-5D096228186A}" presName="rect1" presStyleLbl="lnNode1" presStyleIdx="1" presStyleCnt="4"/>
      <dgm:spPr>
        <a:blipFill>
          <a:blip xmlns:r="http://schemas.openxmlformats.org/officeDocument/2006/relationships" r:embed="rId2"/>
          <a:srcRect/>
          <a:stretch>
            <a:fillRect l="-21000" r="-21000"/>
          </a:stretch>
        </a:blipFill>
      </dgm:spPr>
    </dgm:pt>
    <dgm:pt modelId="{445EBD68-85B3-4CE2-BF0F-99B525CFCEF1}" type="pres">
      <dgm:prSet presAssocID="{EEDE1B26-3DFB-4C3E-BB7C-E4AA2E4EFFB7}" presName="sibTrans" presStyleCnt="0"/>
      <dgm:spPr/>
    </dgm:pt>
    <dgm:pt modelId="{8A165BB3-F56B-4EBC-AF37-74B592A9A865}" type="pres">
      <dgm:prSet presAssocID="{D8F33796-2132-4433-88C3-C44E238943F5}" presName="comp" presStyleCnt="0"/>
      <dgm:spPr/>
    </dgm:pt>
    <dgm:pt modelId="{9075FFD6-AE8C-407C-8775-88FF882D8863}" type="pres">
      <dgm:prSet presAssocID="{D8F33796-2132-4433-88C3-C44E238943F5}" presName="rect2" presStyleLbl="node1" presStyleIdx="2" presStyleCnt="4" custScaleX="130515" custLinFactNeighborX="11550">
        <dgm:presLayoutVars>
          <dgm:bulletEnabled val="1"/>
        </dgm:presLayoutVars>
      </dgm:prSet>
      <dgm:spPr/>
    </dgm:pt>
    <dgm:pt modelId="{D6E6710C-A0EB-4FB2-90AF-2C26614B7BB1}" type="pres">
      <dgm:prSet presAssocID="{D8F33796-2132-4433-88C3-C44E238943F5}" presName="rect1" presStyleLbl="lnNode1" presStyleIdx="2" presStyleCnt="4"/>
      <dgm:spPr>
        <a:blipFill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61124407-DE8C-46DF-849D-4201A8F14724}" type="pres">
      <dgm:prSet presAssocID="{D788A4E4-D817-4B84-AF5C-CB939F9A8EC8}" presName="sibTrans" presStyleCnt="0"/>
      <dgm:spPr/>
    </dgm:pt>
    <dgm:pt modelId="{CE7D96C8-01EF-40B0-96A1-17F9B877B1E3}" type="pres">
      <dgm:prSet presAssocID="{0D894A8A-0135-4A50-97C5-4C5D8C2FC836}" presName="comp" presStyleCnt="0"/>
      <dgm:spPr/>
    </dgm:pt>
    <dgm:pt modelId="{5528C905-BD96-487E-A8D7-5830B2FAFD4E}" type="pres">
      <dgm:prSet presAssocID="{0D894A8A-0135-4A50-97C5-4C5D8C2FC836}" presName="rect2" presStyleLbl="node1" presStyleIdx="3" presStyleCnt="4" custScaleX="130515" custLinFactNeighborX="-11549">
        <dgm:presLayoutVars>
          <dgm:bulletEnabled val="1"/>
        </dgm:presLayoutVars>
      </dgm:prSet>
      <dgm:spPr/>
    </dgm:pt>
    <dgm:pt modelId="{F3288B95-F5FD-4DBB-B773-8C903FE8DF89}" type="pres">
      <dgm:prSet presAssocID="{0D894A8A-0135-4A50-97C5-4C5D8C2FC836}" presName="rect1" presStyleLbl="lnNode1" presStyleIdx="3" presStyleCnt="4"/>
      <dgm:spPr>
        <a:blipFill>
          <a:blip xmlns:r="http://schemas.openxmlformats.org/officeDocument/2006/relationships" r:embed="rId4"/>
          <a:srcRect/>
          <a:stretch>
            <a:fillRect l="-13000" r="-13000"/>
          </a:stretch>
        </a:blipFill>
      </dgm:spPr>
    </dgm:pt>
  </dgm:ptLst>
  <dgm:cxnLst>
    <dgm:cxn modelId="{EAE39A09-62E5-4C18-B60B-C1087FC73684}" type="presOf" srcId="{D8F33796-2132-4433-88C3-C44E238943F5}" destId="{9075FFD6-AE8C-407C-8775-88FF882D8863}" srcOrd="0" destOrd="0" presId="urn:microsoft.com/office/officeart/2008/layout/AlternatingPictureBlocks"/>
    <dgm:cxn modelId="{B400253B-77F0-4E98-8706-E4A863A3A456}" type="presOf" srcId="{657D54E1-2852-4BC2-AEAE-5D096228186A}" destId="{6B908272-668E-4B8A-8933-F96D3F92F289}" srcOrd="0" destOrd="0" presId="urn:microsoft.com/office/officeart/2008/layout/AlternatingPictureBlocks"/>
    <dgm:cxn modelId="{AB0B3D67-24FD-40C6-85EB-CAF57D8CBFED}" srcId="{7CC0AECE-1339-4677-9517-18B417283556}" destId="{0D894A8A-0135-4A50-97C5-4C5D8C2FC836}" srcOrd="3" destOrd="0" parTransId="{E3C76958-ED52-47FF-9692-782E3F889456}" sibTransId="{DA10240B-DD83-4B09-928F-EB6FCFAE1772}"/>
    <dgm:cxn modelId="{1ABBD673-0468-4CD3-93CF-890CA147A75C}" type="presOf" srcId="{0D894A8A-0135-4A50-97C5-4C5D8C2FC836}" destId="{5528C905-BD96-487E-A8D7-5830B2FAFD4E}" srcOrd="0" destOrd="0" presId="urn:microsoft.com/office/officeart/2008/layout/AlternatingPictureBlocks"/>
    <dgm:cxn modelId="{486B9E9D-63D3-4AC3-9D3C-82C609460E52}" srcId="{7CC0AECE-1339-4677-9517-18B417283556}" destId="{D8F33796-2132-4433-88C3-C44E238943F5}" srcOrd="2" destOrd="0" parTransId="{8605C816-990F-4FA6-A81E-EE2D9AC235FC}" sibTransId="{D788A4E4-D817-4B84-AF5C-CB939F9A8EC8}"/>
    <dgm:cxn modelId="{6B88EEA7-835D-46FF-8D36-1C8A77347151}" type="presOf" srcId="{2C8D3BE8-0CED-412C-8C54-8AF6BD77EA6F}" destId="{E24251E0-63E2-4EE7-A8D0-9676810DB8D8}" srcOrd="0" destOrd="0" presId="urn:microsoft.com/office/officeart/2008/layout/AlternatingPictureBlocks"/>
    <dgm:cxn modelId="{0478F0C5-B49E-4C67-BE00-979CD553727F}" srcId="{7CC0AECE-1339-4677-9517-18B417283556}" destId="{2C8D3BE8-0CED-412C-8C54-8AF6BD77EA6F}" srcOrd="0" destOrd="0" parTransId="{14A88DC2-CCB4-4BA7-A6C4-87F873F64DF2}" sibTransId="{DF6BF282-B235-4528-9C11-040369DF7208}"/>
    <dgm:cxn modelId="{082448D5-ECCB-4929-8C32-DE118C3C96D1}" srcId="{7CC0AECE-1339-4677-9517-18B417283556}" destId="{657D54E1-2852-4BC2-AEAE-5D096228186A}" srcOrd="1" destOrd="0" parTransId="{77B77374-4DBD-448E-8852-83F2A8E90FC2}" sibTransId="{EEDE1B26-3DFB-4C3E-BB7C-E4AA2E4EFFB7}"/>
    <dgm:cxn modelId="{6B78C6DE-DD8D-49D4-90DA-36C63E4808F4}" type="presOf" srcId="{7CC0AECE-1339-4677-9517-18B417283556}" destId="{F932EFF2-2715-488F-9831-4337E57FC965}" srcOrd="0" destOrd="0" presId="urn:microsoft.com/office/officeart/2008/layout/AlternatingPictureBlocks"/>
    <dgm:cxn modelId="{C19175D0-E928-4CED-B24D-AE0109498DA6}" type="presParOf" srcId="{F932EFF2-2715-488F-9831-4337E57FC965}" destId="{464C9C82-604C-4D7D-9EA9-029A292FFE22}" srcOrd="0" destOrd="0" presId="urn:microsoft.com/office/officeart/2008/layout/AlternatingPictureBlocks"/>
    <dgm:cxn modelId="{E678D669-A399-433D-9ADE-6880B889AF5B}" type="presParOf" srcId="{464C9C82-604C-4D7D-9EA9-029A292FFE22}" destId="{E24251E0-63E2-4EE7-A8D0-9676810DB8D8}" srcOrd="0" destOrd="0" presId="urn:microsoft.com/office/officeart/2008/layout/AlternatingPictureBlocks"/>
    <dgm:cxn modelId="{2DAA4B46-12B5-40F7-80AC-AB67C46E896B}" type="presParOf" srcId="{464C9C82-604C-4D7D-9EA9-029A292FFE22}" destId="{AE5025D7-0712-4366-863C-E8EE94BA0215}" srcOrd="1" destOrd="0" presId="urn:microsoft.com/office/officeart/2008/layout/AlternatingPictureBlocks"/>
    <dgm:cxn modelId="{CAA4DD2F-D946-493D-B228-548FF08DAA17}" type="presParOf" srcId="{F932EFF2-2715-488F-9831-4337E57FC965}" destId="{E40931F0-C43D-4461-B0CB-4510410FE615}" srcOrd="1" destOrd="0" presId="urn:microsoft.com/office/officeart/2008/layout/AlternatingPictureBlocks"/>
    <dgm:cxn modelId="{4948CC83-8A0B-4F32-9F11-C1A6B7209A55}" type="presParOf" srcId="{F932EFF2-2715-488F-9831-4337E57FC965}" destId="{F8A9102A-FACC-4D09-9753-6394C27F56EA}" srcOrd="2" destOrd="0" presId="urn:microsoft.com/office/officeart/2008/layout/AlternatingPictureBlocks"/>
    <dgm:cxn modelId="{C7F8A874-8B32-4259-8822-5D920C585CD9}" type="presParOf" srcId="{F8A9102A-FACC-4D09-9753-6394C27F56EA}" destId="{6B908272-668E-4B8A-8933-F96D3F92F289}" srcOrd="0" destOrd="0" presId="urn:microsoft.com/office/officeart/2008/layout/AlternatingPictureBlocks"/>
    <dgm:cxn modelId="{6AA5BAC4-15F0-45C8-B0EF-EB100F044940}" type="presParOf" srcId="{F8A9102A-FACC-4D09-9753-6394C27F56EA}" destId="{6B92D29E-6AF5-4FEE-B156-64AA32F86D2B}" srcOrd="1" destOrd="0" presId="urn:microsoft.com/office/officeart/2008/layout/AlternatingPictureBlocks"/>
    <dgm:cxn modelId="{1BE68868-1001-427B-9C9D-5CCEEE55E34D}" type="presParOf" srcId="{F932EFF2-2715-488F-9831-4337E57FC965}" destId="{445EBD68-85B3-4CE2-BF0F-99B525CFCEF1}" srcOrd="3" destOrd="0" presId="urn:microsoft.com/office/officeart/2008/layout/AlternatingPictureBlocks"/>
    <dgm:cxn modelId="{08E5B5D2-414F-4A0A-9953-73EC497B0240}" type="presParOf" srcId="{F932EFF2-2715-488F-9831-4337E57FC965}" destId="{8A165BB3-F56B-4EBC-AF37-74B592A9A865}" srcOrd="4" destOrd="0" presId="urn:microsoft.com/office/officeart/2008/layout/AlternatingPictureBlocks"/>
    <dgm:cxn modelId="{18812565-892D-4ABD-B20F-82B3B32CB8EF}" type="presParOf" srcId="{8A165BB3-F56B-4EBC-AF37-74B592A9A865}" destId="{9075FFD6-AE8C-407C-8775-88FF882D8863}" srcOrd="0" destOrd="0" presId="urn:microsoft.com/office/officeart/2008/layout/AlternatingPictureBlocks"/>
    <dgm:cxn modelId="{635F481E-BD54-4123-8AC7-B736A61FE5F4}" type="presParOf" srcId="{8A165BB3-F56B-4EBC-AF37-74B592A9A865}" destId="{D6E6710C-A0EB-4FB2-90AF-2C26614B7BB1}" srcOrd="1" destOrd="0" presId="urn:microsoft.com/office/officeart/2008/layout/AlternatingPictureBlocks"/>
    <dgm:cxn modelId="{CCFE03B6-EBB3-4221-AEE8-B3BDEA91A0F2}" type="presParOf" srcId="{F932EFF2-2715-488F-9831-4337E57FC965}" destId="{61124407-DE8C-46DF-849D-4201A8F14724}" srcOrd="5" destOrd="0" presId="urn:microsoft.com/office/officeart/2008/layout/AlternatingPictureBlocks"/>
    <dgm:cxn modelId="{B429092A-E6A0-406A-8186-E6038AF080DE}" type="presParOf" srcId="{F932EFF2-2715-488F-9831-4337E57FC965}" destId="{CE7D96C8-01EF-40B0-96A1-17F9B877B1E3}" srcOrd="6" destOrd="0" presId="urn:microsoft.com/office/officeart/2008/layout/AlternatingPictureBlocks"/>
    <dgm:cxn modelId="{BE1B068D-16D5-4035-BFE4-08385F3D50EF}" type="presParOf" srcId="{CE7D96C8-01EF-40B0-96A1-17F9B877B1E3}" destId="{5528C905-BD96-487E-A8D7-5830B2FAFD4E}" srcOrd="0" destOrd="0" presId="urn:microsoft.com/office/officeart/2008/layout/AlternatingPictureBlocks"/>
    <dgm:cxn modelId="{20F95276-A1F6-468E-9154-44B09D7C107E}" type="presParOf" srcId="{CE7D96C8-01EF-40B0-96A1-17F9B877B1E3}" destId="{F3288B95-F5FD-4DBB-B773-8C903FE8DF89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251E0-63E2-4EE7-A8D0-9676810DB8D8}">
      <dsp:nvSpPr>
        <dsp:cNvPr id="0" name=""/>
        <dsp:cNvSpPr/>
      </dsp:nvSpPr>
      <dsp:spPr>
        <a:xfrm>
          <a:off x="1459653" y="1162"/>
          <a:ext cx="1914487" cy="663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 dirty="0"/>
            <a:t>Objek ini bisa berjalan</a:t>
          </a:r>
          <a:br>
            <a:rPr lang="en-ID" sz="1100" kern="1200" dirty="0"/>
          </a:br>
          <a:r>
            <a:rPr lang="en-ID" sz="1100" kern="1200" dirty="0"/>
            <a:t>Objek ini bisa </a:t>
          </a:r>
          <a:r>
            <a:rPr lang="en-ID" sz="1100" kern="1200" dirty="0" err="1"/>
            <a:t>berlari</a:t>
          </a:r>
          <a:br>
            <a:rPr lang="en-ID" sz="1100" kern="1200" dirty="0"/>
          </a:br>
          <a:r>
            <a:rPr lang="en-ID" sz="1100" kern="1200" dirty="0"/>
            <a:t>Objek ini bisa </a:t>
          </a:r>
          <a:r>
            <a:rPr lang="en-ID" sz="1100" kern="1200" dirty="0" err="1"/>
            <a:t>berenang</a:t>
          </a:r>
          <a:endParaRPr lang="id-ID" sz="1100" kern="1200" dirty="0"/>
        </a:p>
      </dsp:txBody>
      <dsp:txXfrm>
        <a:off x="1459653" y="1162"/>
        <a:ext cx="1914487" cy="663442"/>
      </dsp:txXfrm>
    </dsp:sp>
    <dsp:sp modelId="{AE5025D7-0712-4366-863C-E8EE94BA0215}">
      <dsp:nvSpPr>
        <dsp:cNvPr id="0" name=""/>
        <dsp:cNvSpPr/>
      </dsp:nvSpPr>
      <dsp:spPr>
        <a:xfrm>
          <a:off x="791548" y="1162"/>
          <a:ext cx="656808" cy="66344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61000" b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08272-668E-4B8A-8933-F96D3F92F289}">
      <dsp:nvSpPr>
        <dsp:cNvPr id="0" name=""/>
        <dsp:cNvSpPr/>
      </dsp:nvSpPr>
      <dsp:spPr>
        <a:xfrm>
          <a:off x="622125" y="774073"/>
          <a:ext cx="1914487" cy="663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 dirty="0"/>
            <a:t>Objek ini bisa berjalan</a:t>
          </a:r>
          <a:br>
            <a:rPr lang="en-ID" sz="1100" kern="1200" dirty="0"/>
          </a:br>
          <a:r>
            <a:rPr lang="en-ID" sz="1100" kern="1200" dirty="0"/>
            <a:t>Objek ini bisa </a:t>
          </a:r>
          <a:r>
            <a:rPr lang="en-ID" sz="1100" kern="1200" dirty="0" err="1"/>
            <a:t>berlari</a:t>
          </a:r>
          <a:endParaRPr lang="id-ID" sz="1100" kern="1200" dirty="0"/>
        </a:p>
      </dsp:txBody>
      <dsp:txXfrm>
        <a:off x="622125" y="774073"/>
        <a:ext cx="1914487" cy="663442"/>
      </dsp:txXfrm>
    </dsp:sp>
    <dsp:sp modelId="{6B92D29E-6AF5-4FEE-B156-64AA32F86D2B}">
      <dsp:nvSpPr>
        <dsp:cNvPr id="0" name=""/>
        <dsp:cNvSpPr/>
      </dsp:nvSpPr>
      <dsp:spPr>
        <a:xfrm>
          <a:off x="2547909" y="774073"/>
          <a:ext cx="656808" cy="66344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1000" r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5FFD6-AE8C-407C-8775-88FF882D8863}">
      <dsp:nvSpPr>
        <dsp:cNvPr id="0" name=""/>
        <dsp:cNvSpPr/>
      </dsp:nvSpPr>
      <dsp:spPr>
        <a:xfrm>
          <a:off x="1459653" y="1546984"/>
          <a:ext cx="1914487" cy="663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 dirty="0"/>
            <a:t>Objek ini bisa berjalan</a:t>
          </a:r>
          <a:br>
            <a:rPr lang="en-ID" sz="1100" kern="1200" dirty="0"/>
          </a:br>
          <a:r>
            <a:rPr lang="en-ID" sz="1100" kern="1200" dirty="0"/>
            <a:t>Objek ini bisa terbang</a:t>
          </a:r>
          <a:endParaRPr lang="id-ID" sz="1100" kern="1200" dirty="0"/>
        </a:p>
      </dsp:txBody>
      <dsp:txXfrm>
        <a:off x="1459653" y="1546984"/>
        <a:ext cx="1914487" cy="663442"/>
      </dsp:txXfrm>
    </dsp:sp>
    <dsp:sp modelId="{D6E6710C-A0EB-4FB2-90AF-2C26614B7BB1}">
      <dsp:nvSpPr>
        <dsp:cNvPr id="0" name=""/>
        <dsp:cNvSpPr/>
      </dsp:nvSpPr>
      <dsp:spPr>
        <a:xfrm>
          <a:off x="791548" y="1546984"/>
          <a:ext cx="656808" cy="66344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8C905-BD96-487E-A8D7-5830B2FAFD4E}">
      <dsp:nvSpPr>
        <dsp:cNvPr id="0" name=""/>
        <dsp:cNvSpPr/>
      </dsp:nvSpPr>
      <dsp:spPr>
        <a:xfrm>
          <a:off x="622139" y="2319894"/>
          <a:ext cx="1914487" cy="663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 dirty="0"/>
            <a:t>Objek ini bisa </a:t>
          </a:r>
          <a:r>
            <a:rPr lang="en-ID" sz="1100" kern="1200" dirty="0" err="1"/>
            <a:t>berenang</a:t>
          </a:r>
          <a:endParaRPr lang="id-ID" sz="1100" kern="1200" dirty="0"/>
        </a:p>
      </dsp:txBody>
      <dsp:txXfrm>
        <a:off x="622139" y="2319894"/>
        <a:ext cx="1914487" cy="663442"/>
      </dsp:txXfrm>
    </dsp:sp>
    <dsp:sp modelId="{F3288B95-F5FD-4DBB-B773-8C903FE8DF89}">
      <dsp:nvSpPr>
        <dsp:cNvPr id="0" name=""/>
        <dsp:cNvSpPr/>
      </dsp:nvSpPr>
      <dsp:spPr>
        <a:xfrm>
          <a:off x="2547909" y="2319894"/>
          <a:ext cx="656808" cy="663442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3000" r="-1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55186e73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55186e73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7442ffb1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7442ffb1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3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837852887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7837852887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252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7442ffb1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7442ffb1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016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92850" y="2257100"/>
            <a:ext cx="5958300" cy="9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5200"/>
              <a:buNone/>
              <a:defRPr sz="5200">
                <a:solidFill>
                  <a:srgbClr val="EBB55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17650" y="1786700"/>
            <a:ext cx="39087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900108">
            <a:off x="7586327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DDB866-5E97-A2E5-A36D-43E13E897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256" y="166256"/>
            <a:ext cx="916917" cy="900000"/>
          </a:xfrm>
          <a:prstGeom prst="rect">
            <a:avLst/>
          </a:prstGeom>
        </p:spPr>
      </p:pic>
      <p:sp>
        <p:nvSpPr>
          <p:cNvPr id="3" name="Google Shape;190;p33">
            <a:extLst>
              <a:ext uri="{FF2B5EF4-FFF2-40B4-BE49-F238E27FC236}">
                <a16:creationId xmlns:a16="http://schemas.microsoft.com/office/drawing/2014/main" id="{DAF0ED03-DC31-DEEA-1E5B-738295483B9C}"/>
              </a:ext>
            </a:extLst>
          </p:cNvPr>
          <p:cNvSpPr/>
          <p:nvPr userDrawn="1"/>
        </p:nvSpPr>
        <p:spPr>
          <a:xfrm rot="5400000">
            <a:off x="4558741" y="2409699"/>
            <a:ext cx="26525" cy="186767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54E11-79CB-D1D3-7B8F-31A7944116BF}"/>
              </a:ext>
            </a:extLst>
          </p:cNvPr>
          <p:cNvSpPr txBox="1"/>
          <p:nvPr userDrawn="1"/>
        </p:nvSpPr>
        <p:spPr>
          <a:xfrm>
            <a:off x="3205107" y="3486776"/>
            <a:ext cx="2789546" cy="11458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sz="1400" dirty="0">
                <a:solidFill>
                  <a:schemeClr val="bg1">
                    <a:lumMod val="65000"/>
                  </a:schemeClr>
                </a:solidFill>
              </a:rPr>
              <a:t>Oleh </a:t>
            </a:r>
            <a:r>
              <a:rPr lang="en-ID" sz="1400" b="1" dirty="0">
                <a:solidFill>
                  <a:schemeClr val="bg1">
                    <a:lumMod val="65000"/>
                  </a:schemeClr>
                </a:solidFill>
              </a:rPr>
              <a:t>Team Teaching PBO</a:t>
            </a:r>
            <a:endParaRPr lang="id-ID" sz="1400" b="1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D4 Teknologi </a:t>
            </a:r>
            <a:r>
              <a:rPr lang="en-ID" sz="1100" i="1" dirty="0" err="1">
                <a:solidFill>
                  <a:schemeClr val="bg1">
                    <a:lumMod val="65000"/>
                  </a:schemeClr>
                </a:solidFill>
              </a:rPr>
              <a:t>Rekayasa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 Perangkat Lunak</a:t>
            </a: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Jurusan Bisnis dan Informatika</a:t>
            </a: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Politeknik Negeri Banyuwangi</a:t>
            </a:r>
            <a:endParaRPr lang="id-ID" sz="11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F6A11FF-F2BF-DA74-85D4-F9BEF3BEE2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2500" r="56890"/>
          <a:stretch/>
        </p:blipFill>
        <p:spPr>
          <a:xfrm>
            <a:off x="1249429" y="0"/>
            <a:ext cx="7894571" cy="1332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3000"/>
              <a:buNone/>
              <a:defRPr sz="3000">
                <a:solidFill>
                  <a:srgbClr val="EBB55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3515050" y="540000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20000" y="4341175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2343300" y="2895900"/>
            <a:ext cx="44577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312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xfrm>
            <a:off x="5686200" y="1518250"/>
            <a:ext cx="2737800" cy="16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9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25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657825" y="540000"/>
            <a:ext cx="476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4278250" y="1258300"/>
            <a:ext cx="41457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510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55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37B7F"/>
              </a:buClr>
              <a:buSzPts val="3000"/>
              <a:buNone/>
              <a:defRPr sz="3000">
                <a:solidFill>
                  <a:srgbClr val="637B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/>
          <p:nvPr/>
        </p:nvSpPr>
        <p:spPr>
          <a:xfrm rot="900108">
            <a:off x="7586327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637B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4867275" y="540000"/>
            <a:ext cx="3556800" cy="22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80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2206250" y="1877517"/>
            <a:ext cx="47373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003125" y="3059517"/>
            <a:ext cx="31428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/>
          <p:nvPr/>
        </p:nvSpPr>
        <p:spPr>
          <a:xfrm rot="9387396" flipH="1">
            <a:off x="7503726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/>
          <p:nvPr/>
        </p:nvSpPr>
        <p:spPr>
          <a:xfrm rot="-900108" flipH="1">
            <a:off x="-152805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73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 1">
  <p:cSld name="Bullet Point 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5360825" y="540000"/>
            <a:ext cx="306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subTitle" idx="1"/>
          </p:nvPr>
        </p:nvSpPr>
        <p:spPr>
          <a:xfrm>
            <a:off x="1160550" y="1619250"/>
            <a:ext cx="4758900" cy="25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27"/>
          <p:cNvSpPr/>
          <p:nvPr/>
        </p:nvSpPr>
        <p:spPr>
          <a:xfrm flipH="1">
            <a:off x="3515112" y="4341175"/>
            <a:ext cx="4908900" cy="22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64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5FEE-CFAD-332F-15A7-34033E91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100" y="621720"/>
            <a:ext cx="7047300" cy="482400"/>
          </a:xfrm>
        </p:spPr>
        <p:txBody>
          <a:bodyPr/>
          <a:lstStyle>
            <a:lvl1pPr algn="l"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Google Shape;22;p4">
            <a:extLst>
              <a:ext uri="{FF2B5EF4-FFF2-40B4-BE49-F238E27FC236}">
                <a16:creationId xmlns:a16="http://schemas.microsoft.com/office/drawing/2014/main" id="{A52A845B-6043-48E7-28F7-DE0971D23CB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68100" y="1276359"/>
            <a:ext cx="7047300" cy="31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60000" lvl="0" indent="-36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200"/>
              <a:buChar char="●"/>
              <a:defRPr sz="1400">
                <a:solidFill>
                  <a:schemeClr val="bg1"/>
                </a:solidFill>
              </a:defRPr>
            </a:lvl1pPr>
            <a:lvl2pPr marL="720000" lvl="1" indent="-36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200"/>
              <a:buChar char="○"/>
              <a:defRPr sz="1200">
                <a:solidFill>
                  <a:schemeClr val="bg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r>
              <a:rPr lang="en-ID" dirty="0" err="1"/>
              <a:t>Bla</a:t>
            </a:r>
            <a:endParaRPr lang="en-ID" dirty="0"/>
          </a:p>
          <a:p>
            <a:pPr lvl="1"/>
            <a:r>
              <a:rPr lang="en-ID" dirty="0" err="1"/>
              <a:t>bla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89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em Kufi"/>
              <a:buNone/>
              <a:defRPr sz="2800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●"/>
              <a:defRPr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-ID" dirty="0" err="1"/>
              <a:t>Bla</a:t>
            </a:r>
            <a:endParaRPr lang="en-ID" dirty="0"/>
          </a:p>
          <a:p>
            <a:pPr lvl="1"/>
            <a:r>
              <a:rPr lang="en-ID" dirty="0" err="1"/>
              <a:t>asasa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80" r:id="rId3"/>
    <p:sldLayoutId id="2147483682" r:id="rId4"/>
    <p:sldLayoutId id="2147483684" r:id="rId5"/>
    <p:sldLayoutId id="2147483685" r:id="rId6"/>
    <p:sldLayoutId id="2147483688" r:id="rId7"/>
    <p:sldLayoutId id="214748369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 dirty="0"/>
          </a:p>
        </p:txBody>
      </p:sp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ctrTitle"/>
          </p:nvPr>
        </p:nvSpPr>
        <p:spPr>
          <a:xfrm>
            <a:off x="1592850" y="2257100"/>
            <a:ext cx="5958300" cy="9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MIXIN</a:t>
            </a:r>
            <a:endParaRPr b="1"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subTitle" idx="1"/>
          </p:nvPr>
        </p:nvSpPr>
        <p:spPr>
          <a:xfrm>
            <a:off x="1973766" y="1786700"/>
            <a:ext cx="5252224" cy="4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2"/>
                </a:solidFill>
              </a:rPr>
              <a:t>Matakuliah Pemrograman Berorientasi Objek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84E2E"/>
                </a:solidFill>
              </a:rPr>
              <a:t>01</a:t>
            </a:r>
            <a:endParaRPr>
              <a:solidFill>
                <a:srgbClr val="D84E2E"/>
              </a:solidFill>
            </a:endParaRPr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837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2"/>
                </a:solidFill>
              </a:rPr>
              <a:t>KONSEP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4" name="Google Shape;224;p36"/>
          <p:cNvSpPr txBox="1">
            <a:spLocks noGrp="1"/>
          </p:cNvSpPr>
          <p:nvPr>
            <p:ph type="subTitle" idx="1"/>
          </p:nvPr>
        </p:nvSpPr>
        <p:spPr>
          <a:xfrm>
            <a:off x="1650680" y="2895900"/>
            <a:ext cx="584294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 dirty="0"/>
              <a:t>Bagaimana </a:t>
            </a:r>
            <a:r>
              <a:rPr lang="en-ID" dirty="0" err="1"/>
              <a:t>konsep</a:t>
            </a:r>
            <a:r>
              <a:rPr lang="id-ID" dirty="0"/>
              <a:t> </a:t>
            </a:r>
            <a:r>
              <a:rPr lang="en-ID" dirty="0" err="1"/>
              <a:t>mixin</a:t>
            </a:r>
            <a:r>
              <a:rPr lang="id-ID" dirty="0"/>
              <a:t> dalam dunia nyata?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58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36ED08-1DBE-646D-CE40-AF0537BE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Hubungkan</a:t>
            </a:r>
            <a:r>
              <a:rPr lang="en-ID" dirty="0"/>
              <a:t>!</a:t>
            </a:r>
            <a:endParaRPr lang="id-ID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0A342E-D4EB-1AA5-7D08-48AD09F0A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867" y="1258300"/>
            <a:ext cx="7882083" cy="435033"/>
          </a:xfrm>
        </p:spPr>
        <p:txBody>
          <a:bodyPr/>
          <a:lstStyle/>
          <a:p>
            <a:pPr marL="0" indent="0" algn="l"/>
            <a:r>
              <a:rPr lang="en-ID" dirty="0"/>
              <a:t>Coba </a:t>
            </a:r>
            <a:r>
              <a:rPr lang="en-ID" dirty="0" err="1"/>
              <a:t>hubungkan</a:t>
            </a:r>
            <a:r>
              <a:rPr lang="en-ID" dirty="0"/>
              <a:t> setiap </a:t>
            </a:r>
            <a:r>
              <a:rPr lang="en-ID" dirty="0">
                <a:solidFill>
                  <a:srgbClr val="C00000"/>
                </a:solidFill>
              </a:rPr>
              <a:t>objek</a:t>
            </a:r>
            <a:r>
              <a:rPr lang="en-ID" dirty="0"/>
              <a:t> berikut dengan </a:t>
            </a:r>
            <a:r>
              <a:rPr lang="en-ID" dirty="0">
                <a:solidFill>
                  <a:srgbClr val="C00000"/>
                </a:solidFill>
              </a:rPr>
              <a:t>aktivitas</a:t>
            </a:r>
            <a:r>
              <a:rPr lang="en-ID" dirty="0"/>
              <a:t> yang dapat </a:t>
            </a:r>
            <a:r>
              <a:rPr lang="en-ID" dirty="0" err="1"/>
              <a:t>dilakukan</a:t>
            </a:r>
            <a:r>
              <a:rPr lang="en-ID" dirty="0"/>
              <a:t>!</a:t>
            </a:r>
            <a:endParaRPr lang="id-ID" dirty="0"/>
          </a:p>
        </p:txBody>
      </p:sp>
      <p:pic>
        <p:nvPicPr>
          <p:cNvPr id="7" name="Picture 12" descr="Kids Silhouette Vector Art &amp; Graphics | freevector.com">
            <a:extLst>
              <a:ext uri="{FF2B5EF4-FFF2-40B4-BE49-F238E27FC236}">
                <a16:creationId xmlns:a16="http://schemas.microsoft.com/office/drawing/2014/main" id="{3B5DAFF3-845D-EB1F-3388-80FB60DE9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5" t="35051" r="38837" b="34569"/>
          <a:stretch/>
        </p:blipFill>
        <p:spPr bwMode="auto">
          <a:xfrm>
            <a:off x="826921" y="1838933"/>
            <a:ext cx="756842" cy="125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at Images | Free Vectors, Stock Photos &amp; PSD">
            <a:extLst>
              <a:ext uri="{FF2B5EF4-FFF2-40B4-BE49-F238E27FC236}">
                <a16:creationId xmlns:a16="http://schemas.microsoft.com/office/drawing/2014/main" id="{1430D733-98C8-5DEE-9FD6-DEA9CA347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27" t="65956" r="3494" b="4589"/>
          <a:stretch/>
        </p:blipFill>
        <p:spPr bwMode="auto">
          <a:xfrm>
            <a:off x="2506356" y="1994130"/>
            <a:ext cx="1354667" cy="94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irds Vector Art &amp; Graphics | freevector.com">
            <a:extLst>
              <a:ext uri="{FF2B5EF4-FFF2-40B4-BE49-F238E27FC236}">
                <a16:creationId xmlns:a16="http://schemas.microsoft.com/office/drawing/2014/main" id="{72B6665E-3261-A514-00B2-A544E55ED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04" t="32910" r="38800" b="38072"/>
          <a:stretch/>
        </p:blipFill>
        <p:spPr bwMode="auto">
          <a:xfrm>
            <a:off x="4783616" y="1900290"/>
            <a:ext cx="1072445" cy="113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ish Images | Free Vectors, Stock Photos &amp; PSD">
            <a:extLst>
              <a:ext uri="{FF2B5EF4-FFF2-40B4-BE49-F238E27FC236}">
                <a16:creationId xmlns:a16="http://schemas.microsoft.com/office/drawing/2014/main" id="{5444C1E5-ACFB-4803-CA58-C5222162B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0" t="8119" r="62670" b="64746"/>
          <a:stretch/>
        </p:blipFill>
        <p:spPr bwMode="auto">
          <a:xfrm>
            <a:off x="6778654" y="2003777"/>
            <a:ext cx="1441776" cy="113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F960A8-1D82-665E-563F-D0FB2345A6A8}"/>
              </a:ext>
            </a:extLst>
          </p:cNvPr>
          <p:cNvSpPr txBox="1"/>
          <p:nvPr/>
        </p:nvSpPr>
        <p:spPr>
          <a:xfrm>
            <a:off x="741866" y="4184020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Berjalan</a:t>
            </a:r>
            <a:endParaRPr lang="id-ID" sz="2400" b="1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DB297-E6FF-B41C-8E79-3F988428DB24}"/>
              </a:ext>
            </a:extLst>
          </p:cNvPr>
          <p:cNvSpPr txBox="1"/>
          <p:nvPr/>
        </p:nvSpPr>
        <p:spPr>
          <a:xfrm>
            <a:off x="7031304" y="4184018"/>
            <a:ext cx="148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Berenang</a:t>
            </a:r>
            <a:endParaRPr lang="id-ID" sz="2400" b="1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982157-AB95-734A-FD70-D867AC571292}"/>
              </a:ext>
            </a:extLst>
          </p:cNvPr>
          <p:cNvSpPr txBox="1"/>
          <p:nvPr/>
        </p:nvSpPr>
        <p:spPr>
          <a:xfrm>
            <a:off x="4914919" y="4184019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Terbang</a:t>
            </a:r>
            <a:endParaRPr lang="id-ID" sz="2400" b="1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2A891-8981-9160-8B3B-619976E66BA0}"/>
              </a:ext>
            </a:extLst>
          </p:cNvPr>
          <p:cNvSpPr txBox="1"/>
          <p:nvPr/>
        </p:nvSpPr>
        <p:spPr>
          <a:xfrm>
            <a:off x="2840486" y="418401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Berlari</a:t>
            </a:r>
            <a:endParaRPr lang="id-ID" sz="2400" b="1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495C0E8-6B5F-231F-D8E9-3229CF31C4D0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16200000" flipH="1">
            <a:off x="761492" y="3541445"/>
            <a:ext cx="1086424" cy="198725"/>
          </a:xfrm>
          <a:prstGeom prst="curvedConnector3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69AD2C0-3AA4-1614-56CB-E2EFDB3A5B87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16200000" flipH="1">
            <a:off x="1756702" y="2546236"/>
            <a:ext cx="1086423" cy="2189142"/>
          </a:xfrm>
          <a:prstGeom prst="curvedConnector3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1B86486C-53D0-A4E9-FBA3-481825F87D06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3947489" y="355448"/>
            <a:ext cx="1086422" cy="6570717"/>
          </a:xfrm>
          <a:prstGeom prst="curvedConnector3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5ED02A29-7CC3-E902-DE9F-4C7E8998627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1673068" y="2673397"/>
            <a:ext cx="1241623" cy="1779623"/>
          </a:xfrm>
          <a:prstGeom prst="curved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51203B62-19C5-EEC1-E34A-1BCD1B592F27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16200000" flipH="1">
            <a:off x="2668276" y="3457811"/>
            <a:ext cx="1241622" cy="210794"/>
          </a:xfrm>
          <a:prstGeom prst="curved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CBDA130C-6912-E827-EC50-C5DE7441019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2788061" y="1652242"/>
            <a:ext cx="1147784" cy="3915772"/>
          </a:xfrm>
          <a:prstGeom prst="curvedConnector3">
            <a:avLst>
              <a:gd name="adj1" fmla="val 50000"/>
            </a:avLst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306E6081-698D-1C42-57B8-28DAE5AC1E1A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4872584" y="3483490"/>
            <a:ext cx="1147783" cy="253273"/>
          </a:xfrm>
          <a:prstGeom prst="curvedConnector3">
            <a:avLst>
              <a:gd name="adj1" fmla="val 50000"/>
            </a:avLst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687DA60-697D-6834-B6E2-F3E152F7666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16200000" flipH="1">
            <a:off x="7115653" y="3523611"/>
            <a:ext cx="1044295" cy="276517"/>
          </a:xfrm>
          <a:prstGeom prst="curvedConnector3">
            <a:avLst>
              <a:gd name="adj1" fmla="val 50000"/>
            </a:avLst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27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56784A-5973-C319-3203-14DA5782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511" y="540000"/>
            <a:ext cx="4066314" cy="572700"/>
          </a:xfrm>
        </p:spPr>
        <p:txBody>
          <a:bodyPr/>
          <a:lstStyle/>
          <a:p>
            <a:r>
              <a:rPr lang="en-ID" dirty="0"/>
              <a:t>Sekarang Coba </a:t>
            </a:r>
            <a:r>
              <a:rPr lang="en-ID" dirty="0" err="1"/>
              <a:t>Pikirkan</a:t>
            </a:r>
            <a:r>
              <a:rPr lang="en-ID" dirty="0"/>
              <a:t>!</a:t>
            </a:r>
            <a:endParaRPr lang="id-ID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2E5112-1F6B-6FDC-F9AC-1436B8D0C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3" y="1158949"/>
            <a:ext cx="4402667" cy="3706561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dirty="0"/>
              <a:t>Jika setiap </a:t>
            </a:r>
            <a:r>
              <a:rPr lang="en-ID" dirty="0">
                <a:solidFill>
                  <a:srgbClr val="C00000"/>
                </a:solidFill>
              </a:rPr>
              <a:t>aktivitas</a:t>
            </a:r>
            <a:r>
              <a:rPr lang="en-ID" dirty="0"/>
              <a:t> tersebut </a:t>
            </a:r>
            <a:r>
              <a:rPr lang="en-ID" dirty="0" err="1"/>
              <a:t>mempunyai</a:t>
            </a:r>
            <a:r>
              <a:rPr lang="en-ID" dirty="0"/>
              <a:t> bentuk </a:t>
            </a:r>
            <a:r>
              <a:rPr lang="en-ID" dirty="0" err="1">
                <a:solidFill>
                  <a:srgbClr val="C00000"/>
                </a:solidFill>
              </a:rPr>
              <a:t>implementasi</a:t>
            </a:r>
            <a:r>
              <a:rPr lang="en-ID" dirty="0">
                <a:solidFill>
                  <a:srgbClr val="C00000"/>
                </a:solidFill>
              </a:rPr>
              <a:t> yang sama</a:t>
            </a:r>
            <a:r>
              <a:rPr lang="en-ID" dirty="0"/>
              <a:t>, maka </a:t>
            </a:r>
            <a:r>
              <a:rPr lang="en-ID" dirty="0" err="1"/>
              <a:t>definisi</a:t>
            </a:r>
            <a:r>
              <a:rPr lang="en-ID" dirty="0"/>
              <a:t> aktivitas tersebut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dideklarasikan</a:t>
            </a:r>
            <a:r>
              <a:rPr lang="en-ID" dirty="0"/>
              <a:t> pada masing-masing class </a:t>
            </a:r>
            <a:r>
              <a:rPr lang="en-ID" dirty="0" err="1"/>
              <a:t>pembentuk</a:t>
            </a:r>
            <a:r>
              <a:rPr lang="en-ID" dirty="0"/>
              <a:t> objek dengan </a:t>
            </a:r>
            <a:r>
              <a:rPr lang="en-ID" dirty="0" err="1"/>
              <a:t>cara</a:t>
            </a:r>
            <a:r>
              <a:rPr lang="en-ID" dirty="0"/>
              <a:t> yang sama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dirty="0"/>
              <a:t>Kurang </a:t>
            </a:r>
            <a:r>
              <a:rPr lang="en-ID" dirty="0" err="1"/>
              <a:t>efisien</a:t>
            </a:r>
            <a:endParaRPr lang="en-ID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dirty="0"/>
              <a:t>Dibutuhkan sebuah </a:t>
            </a:r>
            <a:r>
              <a:rPr lang="en-ID" dirty="0" err="1">
                <a:solidFill>
                  <a:srgbClr val="C00000"/>
                </a:solidFill>
              </a:rPr>
              <a:t>modul</a:t>
            </a:r>
            <a:r>
              <a:rPr lang="en-ID" dirty="0">
                <a:solidFill>
                  <a:srgbClr val="C00000"/>
                </a:solidFill>
              </a:rPr>
              <a:t> khusus</a:t>
            </a:r>
            <a:r>
              <a:rPr lang="en-ID" dirty="0"/>
              <a:t> yang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deklarasi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tiap aktivitas yang dapat </a:t>
            </a:r>
            <a:r>
              <a:rPr lang="en-ID" dirty="0">
                <a:solidFill>
                  <a:srgbClr val="C00000"/>
                </a:solidFill>
              </a:rPr>
              <a:t>digunakan kembali</a:t>
            </a:r>
            <a:r>
              <a:rPr lang="en-ID" dirty="0"/>
              <a:t> oleh setiap class yang membutuhkan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rgbClr val="C00000"/>
                </a:solidFill>
              </a:rPr>
              <a:t>Mixin</a:t>
            </a:r>
            <a:endParaRPr lang="en-ID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D3A8AE4-3CF0-1FD3-C8F5-CD8BFD90EF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249654"/>
              </p:ext>
            </p:extLst>
          </p:nvPr>
        </p:nvGraphicFramePr>
        <p:xfrm>
          <a:off x="4427558" y="1280583"/>
          <a:ext cx="3996267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610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E5025D7-0712-4366-863C-E8EE94BA02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6">
                                            <p:graphicEl>
                                              <a:dgm id="{AE5025D7-0712-4366-863C-E8EE94BA02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24251E0-63E2-4EE7-A8D0-9676810DB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graphicEl>
                                              <a:dgm id="{E24251E0-63E2-4EE7-A8D0-9676810DB8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92D29E-6AF5-4FEE-B156-64AA32F86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dgm id="{6B92D29E-6AF5-4FEE-B156-64AA32F86D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908272-668E-4B8A-8933-F96D3F92F2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6B908272-668E-4B8A-8933-F96D3F92F2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6E6710C-A0EB-4FB2-90AF-2C26614B7B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D6E6710C-A0EB-4FB2-90AF-2C26614B7B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075FFD6-AE8C-407C-8775-88FF882D88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graphicEl>
                                              <a:dgm id="{9075FFD6-AE8C-407C-8775-88FF882D88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3288B95-F5FD-4DBB-B773-8C903FE8D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F3288B95-F5FD-4DBB-B773-8C903FE8DF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528C905-BD96-487E-A8D7-5830B2FAFD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graphicEl>
                                              <a:dgm id="{5528C905-BD96-487E-A8D7-5830B2FAFD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/>
          <p:nvPr/>
        </p:nvSpPr>
        <p:spPr>
          <a:xfrm rot="5400000">
            <a:off x="4558738" y="1137842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2509024" y="1211579"/>
            <a:ext cx="4125952" cy="620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Mixin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96308" y="2007735"/>
            <a:ext cx="3751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Sebuah mekanisme penggunaan kembali </a:t>
            </a:r>
            <a:r>
              <a:rPr lang="en-ID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properti</a:t>
            </a:r>
            <a:r>
              <a:rPr lang="en-ID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dan/atau metode pada class-class yang berbeda</a:t>
            </a:r>
            <a:endParaRPr lang="id-ID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31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84E2E"/>
                </a:solidFill>
              </a:rPr>
              <a:t>0</a:t>
            </a:r>
            <a:r>
              <a:rPr lang="id-ID">
                <a:solidFill>
                  <a:srgbClr val="D84E2E"/>
                </a:solidFill>
              </a:rPr>
              <a:t>2</a:t>
            </a:r>
            <a:endParaRPr>
              <a:solidFill>
                <a:srgbClr val="D84E2E"/>
              </a:solidFill>
            </a:endParaRPr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837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2"/>
                </a:solidFill>
              </a:rPr>
              <a:t>IMPLEMENTASI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4" name="Google Shape;224;p36"/>
          <p:cNvSpPr txBox="1">
            <a:spLocks noGrp="1"/>
          </p:cNvSpPr>
          <p:nvPr>
            <p:ph type="subTitle" idx="1"/>
          </p:nvPr>
        </p:nvSpPr>
        <p:spPr>
          <a:xfrm>
            <a:off x="2343300" y="2895900"/>
            <a:ext cx="44577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 dirty="0"/>
              <a:t>Bagaimana cara menerapkan </a:t>
            </a:r>
            <a:r>
              <a:rPr lang="en-ID" dirty="0" err="1"/>
              <a:t>mixin</a:t>
            </a:r>
            <a:r>
              <a:rPr lang="id-ID" dirty="0"/>
              <a:t> ke dalam kode program?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11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235CFD95-3988-DDD3-73ED-C427E88AF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8533" y="1518250"/>
            <a:ext cx="4495467" cy="3085250"/>
          </a:xfrm>
        </p:spPr>
        <p:txBody>
          <a:bodyPr/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Mixin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pada Dart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dideklarasikan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mirip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seperti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mendeklarasikan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sebuah </a:t>
            </a:r>
            <a:r>
              <a:rPr lang="en-ID" sz="1600" dirty="0">
                <a:solidFill>
                  <a:srgbClr val="C00000"/>
                </a:solidFill>
              </a:rPr>
              <a:t>concrete class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, namun menggunakan keyword '</a:t>
            </a:r>
            <a:r>
              <a:rPr lang="en-ID" sz="1600" b="1" dirty="0" err="1">
                <a:solidFill>
                  <a:srgbClr val="C00000"/>
                </a:solidFill>
              </a:rPr>
              <a:t>mixin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'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Pada body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mixin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dapat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dideklarasikan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D" sz="1600" dirty="0" err="1">
                <a:solidFill>
                  <a:srgbClr val="C00000"/>
                </a:solidFill>
              </a:rPr>
              <a:t>properti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maupun </a:t>
            </a:r>
            <a:r>
              <a:rPr lang="en-ID" sz="1600" dirty="0">
                <a:solidFill>
                  <a:srgbClr val="C00000"/>
                </a:solidFill>
              </a:rPr>
              <a:t>method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yang nantinya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akan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D" sz="1600" dirty="0">
                <a:solidFill>
                  <a:srgbClr val="C00000"/>
                </a:solidFill>
              </a:rPr>
              <a:t>digunakan kembali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oleh setiap class yang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menerapkan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D" sz="1600" dirty="0" err="1">
                <a:solidFill>
                  <a:schemeClr val="accent2">
                    <a:lumMod val="75000"/>
                  </a:schemeClr>
                </a:solidFill>
              </a:rPr>
              <a:t>mixin</a:t>
            </a:r>
            <a:r>
              <a:rPr lang="en-ID" sz="1600" dirty="0">
                <a:solidFill>
                  <a:schemeClr val="accent2">
                    <a:lumMod val="75000"/>
                  </a:schemeClr>
                </a:solidFill>
              </a:rPr>
              <a:t> tersebut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0371F7-5C2F-5F23-DF28-D3D09025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Deklarasi</a:t>
            </a:r>
            <a:r>
              <a:rPr lang="en-ID" dirty="0"/>
              <a:t> </a:t>
            </a:r>
            <a:r>
              <a:rPr lang="en-ID" dirty="0" err="1">
                <a:solidFill>
                  <a:srgbClr val="C00000"/>
                </a:solidFill>
              </a:rPr>
              <a:t>Mixin</a:t>
            </a:r>
            <a:endParaRPr lang="id-ID" dirty="0">
              <a:solidFill>
                <a:srgbClr val="C00000"/>
              </a:solidFill>
            </a:endParaRPr>
          </a:p>
        </p:txBody>
      </p:sp>
      <p:sp>
        <p:nvSpPr>
          <p:cNvPr id="9" name="Google Shape;445;p50">
            <a:extLst>
              <a:ext uri="{FF2B5EF4-FFF2-40B4-BE49-F238E27FC236}">
                <a16:creationId xmlns:a16="http://schemas.microsoft.com/office/drawing/2014/main" id="{C386C78D-1AF2-5AE5-4FEB-F58DDC1842A8}"/>
              </a:ext>
            </a:extLst>
          </p:cNvPr>
          <p:cNvSpPr/>
          <p:nvPr/>
        </p:nvSpPr>
        <p:spPr>
          <a:xfrm rot="5400000">
            <a:off x="7698538" y="764625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738F4-5018-2057-1D60-7883AA5E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0000" y="1174061"/>
            <a:ext cx="2806960" cy="396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7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0CBF-AB0E-8DE4-ADBD-47F4AE24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0000"/>
            <a:ext cx="4055200" cy="572700"/>
          </a:xfrm>
        </p:spPr>
        <p:txBody>
          <a:bodyPr/>
          <a:lstStyle/>
          <a:p>
            <a:r>
              <a:rPr lang="en-ID" dirty="0"/>
              <a:t>Contoh: </a:t>
            </a:r>
            <a:r>
              <a:rPr lang="en-ID" dirty="0" err="1"/>
              <a:t>Deklarasi</a:t>
            </a:r>
            <a:r>
              <a:rPr lang="en-ID" dirty="0"/>
              <a:t> </a:t>
            </a:r>
            <a:r>
              <a:rPr lang="en-ID" dirty="0" err="1"/>
              <a:t>Mixin</a:t>
            </a:r>
            <a:endParaRPr lang="id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D98339-F164-915F-3415-F3DDA178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99" y="1112700"/>
            <a:ext cx="4619401" cy="40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8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43270D0-D1BE-EC0F-2A45-A9CA1413D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8578" y="1518250"/>
            <a:ext cx="3025422" cy="3414994"/>
          </a:xfrm>
        </p:spPr>
        <p:txBody>
          <a:bodyPr/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Untuk </a:t>
            </a:r>
            <a:r>
              <a:rPr lang="en-ID" sz="1600" dirty="0" err="1"/>
              <a:t>menerapkan</a:t>
            </a:r>
            <a:r>
              <a:rPr lang="en-ID" sz="1600" dirty="0"/>
              <a:t> </a:t>
            </a:r>
            <a:r>
              <a:rPr lang="en-ID" sz="1600" dirty="0" err="1"/>
              <a:t>mixin</a:t>
            </a:r>
            <a:r>
              <a:rPr lang="en-ID" sz="1600" dirty="0"/>
              <a:t> pada suatu class digunakan keyword </a:t>
            </a:r>
            <a:r>
              <a:rPr lang="en-ID" sz="1600" b="1" dirty="0">
                <a:solidFill>
                  <a:srgbClr val="C00000"/>
                </a:solidFill>
              </a:rPr>
              <a:t>'with</a:t>
            </a:r>
            <a:r>
              <a:rPr lang="en-ID" sz="1600" dirty="0"/>
              <a:t>' pada </a:t>
            </a:r>
            <a:r>
              <a:rPr lang="en-ID" sz="1600" dirty="0" err="1"/>
              <a:t>pendeklarasian</a:t>
            </a:r>
            <a:r>
              <a:rPr lang="en-ID" sz="1600" dirty="0"/>
              <a:t> class tersebut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Satu class dapat menggunakan lebih dari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mixin</a:t>
            </a:r>
            <a:endParaRPr lang="en-ID" sz="1600"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Tidak perlu </a:t>
            </a:r>
            <a:r>
              <a:rPr lang="en-ID" sz="1600" dirty="0" err="1"/>
              <a:t>mendefinisikan</a:t>
            </a:r>
            <a:r>
              <a:rPr lang="en-ID" sz="1600" dirty="0"/>
              <a:t> ulang </a:t>
            </a:r>
            <a:r>
              <a:rPr lang="en-ID" sz="1600" dirty="0" err="1"/>
              <a:t>properti</a:t>
            </a:r>
            <a:r>
              <a:rPr lang="en-ID" sz="1600" dirty="0"/>
              <a:t> maupun method yang sudah </a:t>
            </a:r>
            <a:r>
              <a:rPr lang="en-ID" sz="1600" dirty="0" err="1"/>
              <a:t>didefinisikan</a:t>
            </a:r>
            <a:r>
              <a:rPr lang="en-ID" sz="1600" dirty="0"/>
              <a:t> di </a:t>
            </a:r>
            <a:r>
              <a:rPr lang="en-ID" sz="1600" dirty="0">
                <a:solidFill>
                  <a:schemeClr val="tx1"/>
                </a:solidFill>
              </a:rPr>
              <a:t>dalam </a:t>
            </a:r>
            <a:r>
              <a:rPr lang="en-ID" sz="1600" dirty="0" err="1">
                <a:solidFill>
                  <a:schemeClr val="tx1"/>
                </a:solidFill>
              </a:rPr>
              <a:t>mixin</a:t>
            </a:r>
            <a:endParaRPr lang="id-ID" sz="16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CDAAB6-6510-EC23-43FB-D71919CB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Keyword '</a:t>
            </a:r>
            <a:r>
              <a:rPr lang="en-ID" dirty="0">
                <a:solidFill>
                  <a:srgbClr val="C00000"/>
                </a:solidFill>
              </a:rPr>
              <a:t>with</a:t>
            </a:r>
            <a:r>
              <a:rPr lang="en-ID" dirty="0"/>
              <a:t>'</a:t>
            </a:r>
            <a:endParaRPr lang="id-ID" dirty="0"/>
          </a:p>
        </p:txBody>
      </p:sp>
      <p:sp>
        <p:nvSpPr>
          <p:cNvPr id="5" name="Google Shape;445;p50">
            <a:extLst>
              <a:ext uri="{FF2B5EF4-FFF2-40B4-BE49-F238E27FC236}">
                <a16:creationId xmlns:a16="http://schemas.microsoft.com/office/drawing/2014/main" id="{A6995442-8A4B-488F-CB42-B1198C4D196C}"/>
              </a:ext>
            </a:extLst>
          </p:cNvPr>
          <p:cNvSpPr/>
          <p:nvPr/>
        </p:nvSpPr>
        <p:spPr>
          <a:xfrm rot="5400000">
            <a:off x="7698538" y="764625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C1873C-EBCC-15D6-4588-BB30DFCB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3094"/>
            <a:ext cx="5947266" cy="24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AD0E-F152-AC48-E4A2-F9BF6DE84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40000"/>
            <a:ext cx="4529333" cy="572700"/>
          </a:xfrm>
        </p:spPr>
        <p:txBody>
          <a:bodyPr/>
          <a:lstStyle/>
          <a:p>
            <a:r>
              <a:rPr lang="en-ID" dirty="0"/>
              <a:t>Contoh: </a:t>
            </a:r>
            <a:r>
              <a:rPr lang="en-ID" dirty="0" err="1"/>
              <a:t>Pemanfaatan</a:t>
            </a:r>
            <a:r>
              <a:rPr lang="en-ID" dirty="0"/>
              <a:t> </a:t>
            </a:r>
            <a:r>
              <a:rPr lang="en-ID" dirty="0" err="1"/>
              <a:t>Mixin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F246E-CA78-A2A9-9E59-E8C19AF79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267"/>
            <a:ext cx="4279952" cy="2273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E0F96-8243-70AE-394B-C532C6601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920" y="1102266"/>
            <a:ext cx="4556080" cy="2273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37591-736A-FC84-065B-CD76A5D8C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63123"/>
            <a:ext cx="3401540" cy="1680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0493BD-98BA-F99A-6EAC-14B93E288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63122"/>
            <a:ext cx="3262868" cy="16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1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6B12-A8E6-21CF-5A91-70F21DDA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800" y="99731"/>
            <a:ext cx="4966200" cy="572700"/>
          </a:xfrm>
        </p:spPr>
        <p:txBody>
          <a:bodyPr/>
          <a:lstStyle/>
          <a:p>
            <a:pPr algn="r"/>
            <a:r>
              <a:rPr lang="en-ID" dirty="0"/>
              <a:t>Contoh: </a:t>
            </a:r>
            <a:r>
              <a:rPr lang="en-ID" dirty="0" err="1"/>
              <a:t>Implementasi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A0073-B5DA-FA9F-B41A-C5255C07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181" y="0"/>
            <a:ext cx="2552586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BFD86-3AFC-360C-2826-14B38204A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908" y="1675335"/>
            <a:ext cx="4704092" cy="346816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D0E9C1-4094-4A07-BF7F-4E592FC1459E}"/>
              </a:ext>
            </a:extLst>
          </p:cNvPr>
          <p:cNvSpPr/>
          <p:nvPr/>
        </p:nvSpPr>
        <p:spPr>
          <a:xfrm>
            <a:off x="237067" y="2246490"/>
            <a:ext cx="1584000" cy="5760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51DF25-6B09-ED8A-EBA5-20E9D9568DD7}"/>
              </a:ext>
            </a:extLst>
          </p:cNvPr>
          <p:cNvSpPr/>
          <p:nvPr/>
        </p:nvSpPr>
        <p:spPr>
          <a:xfrm>
            <a:off x="237067" y="3252827"/>
            <a:ext cx="1512000" cy="4320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3E26FC-27CF-F114-4A34-4C3CEB57D345}"/>
              </a:ext>
            </a:extLst>
          </p:cNvPr>
          <p:cNvSpPr/>
          <p:nvPr/>
        </p:nvSpPr>
        <p:spPr>
          <a:xfrm>
            <a:off x="237067" y="4119744"/>
            <a:ext cx="1224000" cy="2880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E8C788-79F8-8E6B-2D7D-976A44C1FF98}"/>
              </a:ext>
            </a:extLst>
          </p:cNvPr>
          <p:cNvSpPr/>
          <p:nvPr/>
        </p:nvSpPr>
        <p:spPr>
          <a:xfrm>
            <a:off x="237067" y="4831372"/>
            <a:ext cx="1116000" cy="1440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3BD812-8F31-71F9-F93F-96E5F3375632}"/>
              </a:ext>
            </a:extLst>
          </p:cNvPr>
          <p:cNvSpPr/>
          <p:nvPr/>
        </p:nvSpPr>
        <p:spPr>
          <a:xfrm>
            <a:off x="3719908" y="2099734"/>
            <a:ext cx="4644000" cy="6480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808B63-3BCA-4971-C33A-4ACCE0C703AF}"/>
              </a:ext>
            </a:extLst>
          </p:cNvPr>
          <p:cNvSpPr/>
          <p:nvPr/>
        </p:nvSpPr>
        <p:spPr>
          <a:xfrm>
            <a:off x="3719908" y="3183422"/>
            <a:ext cx="4644000" cy="449484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F93F2E-B403-22E0-98DE-FD3850CD0A17}"/>
              </a:ext>
            </a:extLst>
          </p:cNvPr>
          <p:cNvSpPr/>
          <p:nvPr/>
        </p:nvSpPr>
        <p:spPr>
          <a:xfrm>
            <a:off x="3719908" y="4030400"/>
            <a:ext cx="2172892" cy="449484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FBE2C9-8D91-9B24-9558-6A1C9DDDF301}"/>
              </a:ext>
            </a:extLst>
          </p:cNvPr>
          <p:cNvSpPr/>
          <p:nvPr/>
        </p:nvSpPr>
        <p:spPr>
          <a:xfrm>
            <a:off x="3719907" y="4896001"/>
            <a:ext cx="2160000" cy="221504"/>
          </a:xfrm>
          <a:prstGeom prst="roundRect">
            <a:avLst>
              <a:gd name="adj" fmla="val 55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C38A9BEF-17D9-44D3-3FBB-25343DF8E301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1821067" y="2423734"/>
            <a:ext cx="1898841" cy="110756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929A0ABB-C170-8D3A-C0E7-8CCA9F3AFD79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749067" y="3408164"/>
            <a:ext cx="1970841" cy="60663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26F90795-C31A-C3AD-C0C2-112B7DF9EB3C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1461067" y="4255142"/>
            <a:ext cx="2258841" cy="8602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4434F64-FDDD-C278-3A27-B5A1ECE70573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1353067" y="4903372"/>
            <a:ext cx="2366840" cy="103381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25DF22-5E24-D568-442F-B21354CE45C6}"/>
              </a:ext>
            </a:extLst>
          </p:cNvPr>
          <p:cNvSpPr txBox="1"/>
          <p:nvPr/>
        </p:nvSpPr>
        <p:spPr>
          <a:xfrm>
            <a:off x="3719907" y="672431"/>
            <a:ext cx="464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Setiap objek </a:t>
            </a:r>
            <a:r>
              <a:rPr lang="en-ID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otomatis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memiliki </a:t>
            </a:r>
            <a:r>
              <a:rPr lang="en-ID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properti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dan </a:t>
            </a:r>
            <a:r>
              <a:rPr lang="en-ID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method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telah </a:t>
            </a:r>
            <a:r>
              <a:rPr lang="en-ID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dideklarasikan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pada tiap </a:t>
            </a:r>
            <a:r>
              <a:rPr lang="en-ID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mixin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digunakan</a:t>
            </a:r>
            <a:endParaRPr lang="id-ID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98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CD3232-3CFB-D8DF-8560-CAA4BD324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6443" y="1518250"/>
            <a:ext cx="3635023" cy="3482728"/>
          </a:xfrm>
        </p:spPr>
        <p:txBody>
          <a:bodyPr/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Pada suatu kondisi tertentu </a:t>
            </a:r>
            <a:r>
              <a:rPr lang="en-ID" sz="1600" dirty="0" err="1"/>
              <a:t>dimungkinkan</a:t>
            </a:r>
            <a:r>
              <a:rPr lang="en-ID" sz="1600" dirty="0"/>
              <a:t> untuk </a:t>
            </a:r>
            <a:r>
              <a:rPr lang="en-ID" sz="1600" dirty="0" err="1">
                <a:solidFill>
                  <a:srgbClr val="C00000"/>
                </a:solidFill>
              </a:rPr>
              <a:t>membatasi</a:t>
            </a:r>
            <a:r>
              <a:rPr lang="en-ID" sz="1600" dirty="0"/>
              <a:t> penggunaan </a:t>
            </a:r>
            <a:r>
              <a:rPr lang="en-ID" sz="1600" dirty="0" err="1"/>
              <a:t>mixin</a:t>
            </a:r>
            <a:endParaRPr lang="en-ID" sz="1600"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 err="1"/>
              <a:t>Mixin</a:t>
            </a:r>
            <a:r>
              <a:rPr lang="en-ID" sz="1600" dirty="0"/>
              <a:t> hanya dapat digunakan oleh suatu class yang </a:t>
            </a:r>
            <a:r>
              <a:rPr lang="en-ID" sz="1600" dirty="0" err="1">
                <a:solidFill>
                  <a:srgbClr val="C00000"/>
                </a:solidFill>
              </a:rPr>
              <a:t>mewarisi</a:t>
            </a:r>
            <a:r>
              <a:rPr lang="en-ID" sz="1600" dirty="0"/>
              <a:t> class tertentu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Keyword </a:t>
            </a:r>
            <a:r>
              <a:rPr lang="en-ID" sz="1600" b="1" dirty="0">
                <a:solidFill>
                  <a:srgbClr val="C00000"/>
                </a:solidFill>
              </a:rPr>
              <a:t>'on</a:t>
            </a:r>
            <a:r>
              <a:rPr lang="en-ID" sz="1600" dirty="0"/>
              <a:t>' digunakan untuk menunjukkan </a:t>
            </a:r>
            <a:r>
              <a:rPr lang="en-ID" sz="1600" dirty="0" err="1"/>
              <a:t>pembatasan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turunan</a:t>
            </a:r>
            <a:r>
              <a:rPr lang="en-ID" sz="1600" dirty="0"/>
              <a:t> class tersebut</a:t>
            </a:r>
            <a:endParaRPr lang="id-ID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CC707-1DE1-9B6A-1DFF-9358E858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Keyword '</a:t>
            </a:r>
            <a:r>
              <a:rPr lang="en-ID" dirty="0">
                <a:solidFill>
                  <a:srgbClr val="C00000"/>
                </a:solidFill>
              </a:rPr>
              <a:t>on</a:t>
            </a:r>
            <a:r>
              <a:rPr lang="en-ID" dirty="0"/>
              <a:t>'</a:t>
            </a:r>
            <a:endParaRPr lang="id-ID" dirty="0"/>
          </a:p>
        </p:txBody>
      </p:sp>
      <p:sp>
        <p:nvSpPr>
          <p:cNvPr id="4" name="Google Shape;445;p50">
            <a:extLst>
              <a:ext uri="{FF2B5EF4-FFF2-40B4-BE49-F238E27FC236}">
                <a16:creationId xmlns:a16="http://schemas.microsoft.com/office/drawing/2014/main" id="{C6073BD6-2294-4D24-1D12-C9605AC40553}"/>
              </a:ext>
            </a:extLst>
          </p:cNvPr>
          <p:cNvSpPr/>
          <p:nvPr/>
        </p:nvSpPr>
        <p:spPr>
          <a:xfrm rot="5400000">
            <a:off x="7698538" y="764625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72290-DFB4-D954-0A40-2CC91DDA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31" y="1518250"/>
            <a:ext cx="4923297" cy="235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0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8CAAEF-B0E8-A15D-B5A9-9012233D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0000"/>
            <a:ext cx="3931022" cy="572700"/>
          </a:xfrm>
        </p:spPr>
        <p:txBody>
          <a:bodyPr/>
          <a:lstStyle/>
          <a:p>
            <a:r>
              <a:rPr lang="en-ID" dirty="0"/>
              <a:t>Contoh: </a:t>
            </a:r>
            <a:r>
              <a:rPr lang="en-ID" dirty="0" err="1"/>
              <a:t>Deklarasi</a:t>
            </a:r>
            <a:r>
              <a:rPr lang="en-ID" dirty="0"/>
              <a:t> </a:t>
            </a:r>
            <a:r>
              <a:rPr lang="en-ID" dirty="0" err="1"/>
              <a:t>Mixin</a:t>
            </a:r>
            <a:endParaRPr lang="id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70B667-5419-2F0B-7D72-4D64915597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8857" y="0"/>
            <a:ext cx="2955143" cy="5143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9741E-5F4F-C36F-7684-905D51C1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84922"/>
            <a:ext cx="5225898" cy="257365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1DEADC-DEC9-5806-049B-E3CD4DEB23B4}"/>
              </a:ext>
            </a:extLst>
          </p:cNvPr>
          <p:cNvSpPr/>
          <p:nvPr/>
        </p:nvSpPr>
        <p:spPr>
          <a:xfrm>
            <a:off x="7666428" y="894083"/>
            <a:ext cx="1195350" cy="2160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3580A3-D9BB-62BF-A6AC-63404DF276A2}"/>
              </a:ext>
            </a:extLst>
          </p:cNvPr>
          <p:cNvSpPr/>
          <p:nvPr/>
        </p:nvSpPr>
        <p:spPr>
          <a:xfrm>
            <a:off x="7587405" y="1862299"/>
            <a:ext cx="1195350" cy="2160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FCD4E4-FB1C-4551-D1B9-46F0EFE898A4}"/>
              </a:ext>
            </a:extLst>
          </p:cNvPr>
          <p:cNvSpPr/>
          <p:nvPr/>
        </p:nvSpPr>
        <p:spPr>
          <a:xfrm>
            <a:off x="7598694" y="3309477"/>
            <a:ext cx="1195350" cy="2160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FB0BD1-8E63-BFA0-1945-679448074517}"/>
              </a:ext>
            </a:extLst>
          </p:cNvPr>
          <p:cNvSpPr/>
          <p:nvPr/>
        </p:nvSpPr>
        <p:spPr>
          <a:xfrm>
            <a:off x="7666428" y="4277693"/>
            <a:ext cx="1195350" cy="2160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864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809C-24E8-8A47-2B7E-93D09497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Contoh: </a:t>
            </a:r>
            <a:r>
              <a:rPr lang="en-ID" dirty="0" err="1"/>
              <a:t>Implementasi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542B4-0BD4-3169-F03E-97265E6A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12700"/>
            <a:ext cx="5614329" cy="4030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630FCB-D77C-D21D-64A9-594C2CBE15FB}"/>
              </a:ext>
            </a:extLst>
          </p:cNvPr>
          <p:cNvSpPr/>
          <p:nvPr/>
        </p:nvSpPr>
        <p:spPr>
          <a:xfrm>
            <a:off x="880533" y="2571750"/>
            <a:ext cx="4955823" cy="52140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CDFF7-9D3D-E501-E06B-FE78957BD704}"/>
              </a:ext>
            </a:extLst>
          </p:cNvPr>
          <p:cNvSpPr txBox="1"/>
          <p:nvPr/>
        </p:nvSpPr>
        <p:spPr>
          <a:xfrm>
            <a:off x="6600092" y="2249095"/>
            <a:ext cx="25439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</a:t>
            </a:r>
            <a:r>
              <a:rPr lang="en-ID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Manusia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baru bisa menggunakan </a:t>
            </a:r>
            <a:r>
              <a:rPr lang="en-ID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mixin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BisaBerjalan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ID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BisaBerlari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dan </a:t>
            </a:r>
            <a:r>
              <a:rPr lang="en-ID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BisaBerenang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setelah </a:t>
            </a:r>
            <a:r>
              <a:rPr lang="en-ID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mewarisi</a:t>
            </a:r>
            <a:r>
              <a:rPr lang="en-ID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class </a:t>
            </a:r>
            <a:r>
              <a:rPr lang="en-ID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MakhlukHidup</a:t>
            </a:r>
            <a:endParaRPr lang="id-ID" dirty="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51B3419-2C46-93DD-FDC2-D4872A2F015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836356" y="2832453"/>
            <a:ext cx="763736" cy="1418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2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497" y="2330605"/>
            <a:ext cx="377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600">
                <a:solidFill>
                  <a:schemeClr val="bg1"/>
                </a:solidFill>
                <a:latin typeface="Eras Demi ITC" panose="020B0805030504020804" pitchFamily="34" charset="0"/>
              </a:rPr>
              <a:t>- Sampai jumpa di materi berikutnya -</a:t>
            </a:r>
          </a:p>
        </p:txBody>
      </p:sp>
    </p:spTree>
    <p:extLst>
      <p:ext uri="{BB962C8B-B14F-4D97-AF65-F5344CB8AC3E}">
        <p14:creationId xmlns:p14="http://schemas.microsoft.com/office/powerpoint/2010/main" val="21324340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Meeting by Slidesgo">
  <a:themeElements>
    <a:clrScheme name="Simple Light">
      <a:dk1>
        <a:srgbClr val="000000"/>
      </a:dk1>
      <a:lt1>
        <a:srgbClr val="FFFFFF"/>
      </a:lt1>
      <a:dk2>
        <a:srgbClr val="637B7F"/>
      </a:dk2>
      <a:lt2>
        <a:srgbClr val="EBB55A"/>
      </a:lt2>
      <a:accent1>
        <a:srgbClr val="D84E2E"/>
      </a:accent1>
      <a:accent2>
        <a:srgbClr val="637B7F"/>
      </a:accent2>
      <a:accent3>
        <a:srgbClr val="EBB55A"/>
      </a:accent3>
      <a:accent4>
        <a:srgbClr val="D84E2E"/>
      </a:accent4>
      <a:accent5>
        <a:srgbClr val="637B7F"/>
      </a:accent5>
      <a:accent6>
        <a:srgbClr val="EBB55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4340</TotalTime>
  <Words>310</Words>
  <Application>Microsoft Office PowerPoint</Application>
  <PresentationFormat>On-screen Show (16:9)</PresentationFormat>
  <Paragraphs>44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Eras Demi ITC</vt:lpstr>
      <vt:lpstr>Reem Kufi</vt:lpstr>
      <vt:lpstr>Proxima Nova Semibold</vt:lpstr>
      <vt:lpstr>Source Sans Pro</vt:lpstr>
      <vt:lpstr>Proxima Nova</vt:lpstr>
      <vt:lpstr>Arial</vt:lpstr>
      <vt:lpstr>Simple Meeting by Slidesgo</vt:lpstr>
      <vt:lpstr>Slidesgo Final Pages</vt:lpstr>
      <vt:lpstr>MIXIN</vt:lpstr>
      <vt:lpstr>01</vt:lpstr>
      <vt:lpstr>Hubungkan!</vt:lpstr>
      <vt:lpstr>Sekarang Coba Pikirkan!</vt:lpstr>
      <vt:lpstr>Mixin</vt:lpstr>
      <vt:lpstr>02</vt:lpstr>
      <vt:lpstr>Deklarasi Mixin</vt:lpstr>
      <vt:lpstr>Contoh: Deklarasi Mixin</vt:lpstr>
      <vt:lpstr>Keyword 'with'</vt:lpstr>
      <vt:lpstr>Contoh: Pemanfaatan Mixin</vt:lpstr>
      <vt:lpstr>Contoh: Implementasi</vt:lpstr>
      <vt:lpstr>Keyword 'on'</vt:lpstr>
      <vt:lpstr>Contoh: Deklarasi Mixin</vt:lpstr>
      <vt:lpstr>Contoh: Implementasi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MEETING</dc:title>
  <dc:creator>Khoirul Umam</dc:creator>
  <cp:lastModifiedBy>Khoirul Umam</cp:lastModifiedBy>
  <cp:revision>176</cp:revision>
  <dcterms:modified xsi:type="dcterms:W3CDTF">2024-02-09T21:09:06Z</dcterms:modified>
</cp:coreProperties>
</file>